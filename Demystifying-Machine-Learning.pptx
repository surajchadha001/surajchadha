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embeddedFontLst>
    <p:embeddedFont>
      <p:font typeface="Heebo Light"/>
      <p:regular r:id="rId201314"/>
    </p:embeddedFont>
    <p:embeddedFont>
      <p:font typeface="Heebo"/>
      <p:regular r:id="rId201315"/>
    </p:embeddedFont>
    <p:embeddedFont>
      <p:font typeface="Heebo Medium"/>
      <p:regular r:id="rId201316"/>
    </p:embeddedFont>
    <p:embeddedFont>
      <p:font typeface="Heebo SemiBold"/>
      <p:regular r:id="rId201317"/>
    </p:embeddedFont>
    <p:embeddedFont>
      <p:font typeface="Heebo Bold"/>
      <p:regular r:id="rId201318"/>
    </p:embeddedFont>
    <p:embeddedFont>
      <p:font typeface="Montserrat SemiBold"/>
      <p:regular r:id="rId201319"/>
    </p:embeddedFont>
    <p:embeddedFont>
      <p:font typeface="Montserrat Medium"/>
      <p:regular r:id="rId2013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120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120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1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1.png"/><Relationship Id="rId4" Type="http://schemas.openxmlformats.org/officeDocument/2006/relationships/image" Target="../media/image-11-4.png"/><Relationship Id="rId5" Type="http://schemas.openxmlformats.org/officeDocument/2006/relationships/image" Target="../media/image-11-1.png"/><Relationship Id="rId6" Type="http://schemas.openxmlformats.org/officeDocument/2006/relationships/image" Target="../media/image-11-1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5156" y="3758502"/>
            <a:ext cx="10686783" cy="199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8200" spc="-287" kern="1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Demystifying</a:t>
            </a:r>
            <a:endParaRPr lang="en-US" sz="8200" dirty="0"/>
          </a:p>
          <a:p>
            <a:pPr algn="l" indent="0" marL="0">
              <a:lnSpc>
                <a:spcPct val="80000"/>
              </a:lnSpc>
              <a:buNone/>
            </a:pPr>
            <a:r>
              <a:rPr lang="en-US" sz="8200" spc="-287" kern="1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Machine Learning</a:t>
            </a:r>
            <a:endParaRPr lang="en-US" sz="8200" dirty="0"/>
          </a:p>
        </p:txBody>
      </p:sp>
      <p:sp>
        <p:nvSpPr>
          <p:cNvPr id="3" name="Shape 1"/>
          <p:cNvSpPr/>
          <p:nvPr/>
        </p:nvSpPr>
        <p:spPr>
          <a:xfrm>
            <a:off x="765156" y="5971282"/>
            <a:ext cx="3526543" cy="31651"/>
          </a:xfrm>
          <a:prstGeom prst="roundRect">
            <a:avLst>
              <a:gd name="adj" fmla="val 49998"/>
            </a:avLst>
          </a:prstGeom>
          <a:solidFill>
            <a:srgbClr val="3D2A31"/>
          </a:solidFill>
          <a:ln/>
        </p:spPr>
      </p:sp>
      <p:sp>
        <p:nvSpPr>
          <p:cNvPr id="4" name="Text 2"/>
          <p:cNvSpPr/>
          <p:nvPr/>
        </p:nvSpPr>
        <p:spPr>
          <a:xfrm>
            <a:off x="765156" y="6320631"/>
            <a:ext cx="11296367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 practical map of model families, business questions, and trade-offs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1505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C4B0B2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THE CORE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10126"/>
            <a:ext cx="10972526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85" kern="100" dirty="0">
                <a:solidFill>
                  <a:srgbClr val="FBF3F0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Machine learning is pattern-finding with a purpose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1675507"/>
            <a:ext cx="3620798" cy="31651"/>
          </a:xfrm>
          <a:prstGeom prst="roundRect">
            <a:avLst>
              <a:gd name="adj" fmla="val 49998"/>
            </a:avLst>
          </a:prstGeom>
          <a:solidFill>
            <a:srgbClr val="3D2A31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2024856"/>
            <a:ext cx="11582110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Models learn relationships from data to make predictions, decisions, or generate content.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517577"/>
            <a:ext cx="10972526" cy="2142232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879" y="2758877"/>
            <a:ext cx="539736" cy="5397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50879" y="3430897"/>
            <a:ext cx="5016375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E6D9D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Find signal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850879" y="3902968"/>
            <a:ext cx="5016375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Separate repeatable relationships from noise.</a:t>
            </a:r>
            <a:endParaRPr lang="en-US" sz="14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442" y="2758877"/>
            <a:ext cx="539736" cy="5397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324442" y="3430897"/>
            <a:ext cx="5016375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E6D9D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Make it useful</a:t>
            </a:r>
            <a:endParaRPr lang="en-US" sz="1900" dirty="0"/>
          </a:p>
        </p:txBody>
      </p:sp>
      <p:sp>
        <p:nvSpPr>
          <p:cNvPr id="12" name="Text 7"/>
          <p:cNvSpPr/>
          <p:nvPr/>
        </p:nvSpPr>
        <p:spPr>
          <a:xfrm>
            <a:off x="6324442" y="3902968"/>
            <a:ext cx="5016375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Match the model to the question, the data, and the cost of being wrong.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1505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C4B0B2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A BETTER STARTING POINT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10126"/>
            <a:ext cx="10972526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85" kern="100" dirty="0">
                <a:solidFill>
                  <a:srgbClr val="FBF3F0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Start with the outcome, not the algorithm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9585" y="1530509"/>
            <a:ext cx="10972526" cy="345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000" spc="-50" kern="100" dirty="0">
                <a:solidFill>
                  <a:srgbClr val="E6D9D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The business question determines the useful shape of the answer.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09585" y="4472285"/>
            <a:ext cx="85564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FF8761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01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09585" y="4775101"/>
            <a:ext cx="2514537" cy="19050"/>
          </a:xfrm>
          <a:prstGeom prst="rect">
            <a:avLst/>
          </a:prstGeom>
          <a:solidFill>
            <a:srgbClr val="FF5A7A"/>
          </a:solidFill>
          <a:ln/>
        </p:spPr>
      </p:sp>
      <p:sp>
        <p:nvSpPr>
          <p:cNvPr id="7" name="Text 5"/>
          <p:cNvSpPr/>
          <p:nvPr/>
        </p:nvSpPr>
        <p:spPr>
          <a:xfrm>
            <a:off x="609585" y="4932672"/>
            <a:ext cx="2514537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E6D9D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Predict a number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09585" y="5404743"/>
            <a:ext cx="2514537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Revenue, demand, time, risk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428914" y="4472285"/>
            <a:ext cx="85564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FF8761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02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428914" y="4775101"/>
            <a:ext cx="2514537" cy="19050"/>
          </a:xfrm>
          <a:prstGeom prst="rect">
            <a:avLst/>
          </a:prstGeom>
          <a:solidFill>
            <a:srgbClr val="FF5A7A"/>
          </a:solidFill>
          <a:ln/>
        </p:spPr>
      </p:sp>
      <p:sp>
        <p:nvSpPr>
          <p:cNvPr id="11" name="Text 9"/>
          <p:cNvSpPr/>
          <p:nvPr/>
        </p:nvSpPr>
        <p:spPr>
          <a:xfrm>
            <a:off x="3428914" y="4932672"/>
            <a:ext cx="2514537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E6D9D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Choose a category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428914" y="5404743"/>
            <a:ext cx="2514537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Churn, fraud, approval, topic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248244" y="4472285"/>
            <a:ext cx="85564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FF8761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03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248244" y="4775101"/>
            <a:ext cx="2514537" cy="19050"/>
          </a:xfrm>
          <a:prstGeom prst="rect">
            <a:avLst/>
          </a:prstGeom>
          <a:solidFill>
            <a:srgbClr val="FF5A7A"/>
          </a:solidFill>
          <a:ln/>
        </p:spPr>
      </p:sp>
      <p:sp>
        <p:nvSpPr>
          <p:cNvPr id="15" name="Text 13"/>
          <p:cNvSpPr/>
          <p:nvPr/>
        </p:nvSpPr>
        <p:spPr>
          <a:xfrm>
            <a:off x="6248244" y="4932672"/>
            <a:ext cx="2514537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E6D9D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Find hidden groups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248244" y="5404743"/>
            <a:ext cx="2514537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Segments, behaviors, anomalies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9067573" y="4472285"/>
            <a:ext cx="85564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FF8761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04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9067573" y="4775101"/>
            <a:ext cx="2514537" cy="19050"/>
          </a:xfrm>
          <a:prstGeom prst="rect">
            <a:avLst/>
          </a:prstGeom>
          <a:solidFill>
            <a:srgbClr val="FF5A7A"/>
          </a:solidFill>
          <a:ln/>
        </p:spPr>
      </p:sp>
      <p:sp>
        <p:nvSpPr>
          <p:cNvPr id="19" name="Text 17"/>
          <p:cNvSpPr/>
          <p:nvPr/>
        </p:nvSpPr>
        <p:spPr>
          <a:xfrm>
            <a:off x="9067573" y="4932672"/>
            <a:ext cx="2514537" cy="656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E6D9D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Generate or recommend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9067573" y="5732859"/>
            <a:ext cx="2514537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Text, images, products, next actions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587718"/>
            <a:ext cx="3106362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C4B0B2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THE 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1886339"/>
            <a:ext cx="2496777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85" kern="100" dirty="0">
                <a:solidFill>
                  <a:srgbClr val="FBF3F0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The model family map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3109416"/>
            <a:ext cx="823892" cy="31651"/>
          </a:xfrm>
          <a:prstGeom prst="roundRect">
            <a:avLst>
              <a:gd name="adj" fmla="val 49998"/>
            </a:avLst>
          </a:prstGeom>
          <a:solidFill>
            <a:srgbClr val="3D2A31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3458766"/>
            <a:ext cx="2496777" cy="1813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Four families answer different kinds of questions. The first decision is the learning setup, not the brand name of the tool.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82621" y="1516559"/>
            <a:ext cx="6799489" cy="382478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548626"/>
            <a:ext cx="6299042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C4B0B2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FAMILY 01 · SUPERVISED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1847247"/>
            <a:ext cx="5689458" cy="1373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85" kern="100" dirty="0">
                <a:solidFill>
                  <a:srgbClr val="FBF3F0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Supervised learning learns from answer-key examples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3528020"/>
            <a:ext cx="1877469" cy="31651"/>
          </a:xfrm>
          <a:prstGeom prst="roundRect">
            <a:avLst>
              <a:gd name="adj" fmla="val 49998"/>
            </a:avLst>
          </a:prstGeom>
          <a:solidFill>
            <a:srgbClr val="3D2A31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3877370"/>
            <a:ext cx="5689458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Historical inputs are paired with known outcomes. The model learns a reusable mapping, then applies it to new cases.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09585" y="4974530"/>
            <a:ext cx="4159642" cy="336649"/>
          </a:xfrm>
          <a:prstGeom prst="roundRect">
            <a:avLst>
              <a:gd name="adj" fmla="val 3395"/>
            </a:avLst>
          </a:prstGeom>
          <a:noFill/>
          <a:ln w="6350">
            <a:solidFill>
              <a:srgbClr val="FF8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9062" y="5039793"/>
            <a:ext cx="4510272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109" kern="100" dirty="0">
                <a:solidFill>
                  <a:srgbClr val="FF8761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INPUTS → KNOWN OUTCOME → NEW CASE</a:t>
            </a:r>
            <a:endParaRPr lang="en-US" sz="13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8627" y="0"/>
            <a:ext cx="528306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1505"/>
            <a:ext cx="721342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C4B0B2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SUPERVISED · QUANTITY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10126"/>
            <a:ext cx="6603835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85" kern="100" dirty="0">
                <a:solidFill>
                  <a:srgbClr val="FBF3F0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Regression predicts a quantity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9585" y="1530509"/>
            <a:ext cx="6603835" cy="345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000" spc="-50" kern="100" dirty="0">
                <a:solidFill>
                  <a:srgbClr val="E6D9D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The question is “How much?” or “How long?”</a:t>
            </a:r>
            <a:endParaRPr lang="en-US" sz="2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062262"/>
            <a:ext cx="6603835" cy="318402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585" y="5332174"/>
            <a:ext cx="7213420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17" kern="100" dirty="0">
                <a:solidFill>
                  <a:srgbClr val="A89598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useful regression model tracks the overall pattern while missing some individual cases.</a:t>
            </a:r>
            <a:endParaRPr lang="en-US" sz="11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0193" y="0"/>
            <a:ext cx="3911502" cy="6858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896127" y="2152662"/>
            <a:ext cx="2679633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E6D9D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Common examples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8896127" y="2624733"/>
            <a:ext cx="2679633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Sales forecast</a:t>
            </a:r>
            <a:endParaRPr lang="en-US" sz="17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Delivery time</a:t>
            </a:r>
            <a:endParaRPr lang="en-US" sz="17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Property value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>
            <a:off x="8896127" y="3848795"/>
            <a:ext cx="2679534" cy="31651"/>
          </a:xfrm>
          <a:prstGeom prst="roundRect">
            <a:avLst>
              <a:gd name="adj" fmla="val 49998"/>
            </a:avLst>
          </a:prstGeom>
          <a:solidFill>
            <a:srgbClr val="3D2A31"/>
          </a:solidFill>
          <a:ln/>
        </p:spPr>
      </p:sp>
      <p:sp>
        <p:nvSpPr>
          <p:cNvPr id="11" name="Text 7"/>
          <p:cNvSpPr/>
          <p:nvPr/>
        </p:nvSpPr>
        <p:spPr>
          <a:xfrm>
            <a:off x="8896127" y="4198144"/>
            <a:ext cx="2679633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Fit a line, curve, or more flexible function to past examples.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1505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C4B0B2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SUPERVISED · LABEL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10126"/>
            <a:ext cx="10972526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85" kern="100" dirty="0">
                <a:solidFill>
                  <a:srgbClr val="FBF3F0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Classification predicts a label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1675507"/>
            <a:ext cx="3620798" cy="31651"/>
          </a:xfrm>
          <a:prstGeom prst="roundRect">
            <a:avLst>
              <a:gd name="adj" fmla="val 49998"/>
            </a:avLst>
          </a:prstGeom>
          <a:solidFill>
            <a:srgbClr val="3D2A31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2024856"/>
            <a:ext cx="11582110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The question is “Which bucket?” or “Is this likely?”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517577"/>
            <a:ext cx="3454314" cy="154215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38179" y="2754622"/>
            <a:ext cx="2997125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E6D9D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Churn / stay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38179" y="3226693"/>
            <a:ext cx="2997125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Which customers need attention?</a:t>
            </a:r>
            <a:endParaRPr lang="en-US" sz="17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8691" y="2517577"/>
            <a:ext cx="3454314" cy="154215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97285" y="2754622"/>
            <a:ext cx="2997125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E6D9D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Spam / not spam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4597285" y="3226693"/>
            <a:ext cx="2997125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Which messages belong elsewhere?</a:t>
            </a:r>
            <a:endParaRPr lang="en-US" sz="17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7797" y="2517577"/>
            <a:ext cx="3454314" cy="154215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356391" y="2754622"/>
            <a:ext cx="2997125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E6D9D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High / medium / low risk</a:t>
            </a:r>
            <a:endParaRPr lang="en-US" sz="1900" dirty="0"/>
          </a:p>
        </p:txBody>
      </p:sp>
      <p:sp>
        <p:nvSpPr>
          <p:cNvPr id="14" name="Text 9"/>
          <p:cNvSpPr/>
          <p:nvPr/>
        </p:nvSpPr>
        <p:spPr>
          <a:xfrm>
            <a:off x="8356391" y="3226693"/>
            <a:ext cx="2997125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Which level supports the decision?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609585" y="4250392"/>
            <a:ext cx="11582110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17" kern="100" dirty="0">
                <a:solidFill>
                  <a:srgbClr val="A89598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output can be a class or a probability that supports a decision.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1505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C4B0B2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REPRESENTATIVE MODELS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10126"/>
            <a:ext cx="10972526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85" kern="100" dirty="0">
                <a:solidFill>
                  <a:srgbClr val="FBF3F0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Linear and logistic models are simple baselines with real value</a:t>
            </a:r>
            <a:endParaRPr lang="en-US" sz="3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1945977"/>
            <a:ext cx="5333867" cy="380970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879" y="2189182"/>
            <a:ext cx="5092573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C4B0B2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NUMBER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50879" y="2461768"/>
            <a:ext cx="4851279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60" kern="100" dirty="0">
                <a:solidFill>
                  <a:srgbClr val="E6D9D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Linear regression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850879" y="3022699"/>
            <a:ext cx="4851279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Estimates a numeric outcome with weighted inputs.</a:t>
            </a:r>
            <a:endParaRPr lang="en-US" sz="17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244" y="1945977"/>
            <a:ext cx="5333867" cy="380970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89538" y="2189182"/>
            <a:ext cx="5092573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C4B0B2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PROBABILITY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6489538" y="2461768"/>
            <a:ext cx="4851279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60" kern="100" dirty="0">
                <a:solidFill>
                  <a:srgbClr val="E6D9D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Logistic regression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6489538" y="3022699"/>
            <a:ext cx="5092573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Estimates the probability of a class.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609585" y="5946180"/>
            <a:ext cx="11582110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Useful when speed, interpretability, and a clear baseline matter.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470938"/>
            <a:ext cx="3693127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C4B0B2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REPRESENTATIVE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1769559"/>
            <a:ext cx="3083542" cy="183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85" kern="100" dirty="0">
                <a:solidFill>
                  <a:srgbClr val="FBF3F0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Decision trees turn data into a sequence of questions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3908028"/>
            <a:ext cx="1017463" cy="31651"/>
          </a:xfrm>
          <a:prstGeom prst="roundRect">
            <a:avLst>
              <a:gd name="adj" fmla="val 49998"/>
            </a:avLst>
          </a:prstGeom>
          <a:solidFill>
            <a:srgbClr val="3D2A31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4257377"/>
            <a:ext cx="3083542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Each answer sends the case down a different branch.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5052318"/>
            <a:ext cx="1883720" cy="3366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9062" y="5117580"/>
            <a:ext cx="2234350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109" kern="100" dirty="0">
                <a:solidFill>
                  <a:srgbClr val="E6D9D8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EASY TO EXPLAIN</a:t>
            </a:r>
            <a:endParaRPr lang="en-US" sz="13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9386" y="2031107"/>
            <a:ext cx="6212724" cy="279578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303308" y="2034537"/>
            <a:ext cx="1089423" cy="428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1250" spc="-31" kern="100" dirty="0">
                <a:solidFill>
                  <a:srgbClr val="E6D9D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Has usage dropped?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6303308" y="2527100"/>
            <a:ext cx="1089423" cy="150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85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Check recent activity</a:t>
            </a:r>
            <a:endParaRPr lang="en-US" sz="8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9979" y="2907120"/>
            <a:ext cx="242295" cy="24230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378106" y="4059217"/>
            <a:ext cx="1095636" cy="428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1250" spc="-31" kern="100" dirty="0">
                <a:solidFill>
                  <a:srgbClr val="E6D9D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Tenure &lt; 6 months?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7378106" y="4551780"/>
            <a:ext cx="1095636" cy="3010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85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New customer or established</a:t>
            </a:r>
            <a:endParaRPr lang="en-US" sz="8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4776" y="3789346"/>
            <a:ext cx="242295" cy="242301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446691" y="2012792"/>
            <a:ext cx="1089423" cy="428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1250" spc="-31" kern="100" dirty="0">
                <a:solidFill>
                  <a:srgbClr val="E6D9D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Outcome: Likely stay</a:t>
            </a:r>
            <a:endParaRPr lang="en-US" sz="1250" dirty="0"/>
          </a:p>
        </p:txBody>
      </p:sp>
      <p:sp>
        <p:nvSpPr>
          <p:cNvPr id="16" name="Text 10"/>
          <p:cNvSpPr/>
          <p:nvPr/>
        </p:nvSpPr>
        <p:spPr>
          <a:xfrm>
            <a:off x="8446691" y="2505355"/>
            <a:ext cx="1089423" cy="150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85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Stable usage, low risk</a:t>
            </a:r>
            <a:endParaRPr lang="en-US" sz="8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85786" y="2882269"/>
            <a:ext cx="242295" cy="242301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521488" y="4059217"/>
            <a:ext cx="1089423" cy="428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1250" spc="-31" kern="100" dirty="0">
                <a:solidFill>
                  <a:srgbClr val="E6D9D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Outcome: Likely churn</a:t>
            </a:r>
            <a:endParaRPr lang="en-US" sz="1250" dirty="0"/>
          </a:p>
        </p:txBody>
      </p:sp>
      <p:sp>
        <p:nvSpPr>
          <p:cNvPr id="19" name="Text 12"/>
          <p:cNvSpPr/>
          <p:nvPr/>
        </p:nvSpPr>
        <p:spPr>
          <a:xfrm>
            <a:off x="9521488" y="4551780"/>
            <a:ext cx="1089423" cy="3010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85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Significant drop, high risk</a:t>
            </a:r>
            <a:endParaRPr lang="en-US" sz="85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48159" y="3789346"/>
            <a:ext cx="242295" cy="24230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850946"/>
            <a:ext cx="6299042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C4B0B2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REPRESENTATIVE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2149566"/>
            <a:ext cx="5689458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85" kern="100" dirty="0">
                <a:solidFill>
                  <a:srgbClr val="FBF3F0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Nearest neighbors decide by resemblance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3372644"/>
            <a:ext cx="1877469" cy="31651"/>
          </a:xfrm>
          <a:prstGeom prst="roundRect">
            <a:avLst>
              <a:gd name="adj" fmla="val 49998"/>
            </a:avLst>
          </a:prstGeom>
          <a:solidFill>
            <a:srgbClr val="3D2A31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3721993"/>
            <a:ext cx="5689458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Find past cases that look most like the new case, then use those neighbors to recommend, classify, or assess similarity.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09585" y="4819313"/>
            <a:ext cx="6299042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17" kern="100" dirty="0">
                <a:solidFill>
                  <a:srgbClr val="A89598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Works best when “similar” is meaningful and the data is well-prepared.</a:t>
            </a:r>
            <a:endParaRPr lang="en-US" sz="11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8627" y="0"/>
            <a:ext cx="528306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354554"/>
            <a:ext cx="4145256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C4B0B2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FAMILY 02 · UNSUPERVISED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1653175"/>
            <a:ext cx="3535671" cy="2288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85" kern="100" dirty="0">
                <a:solidFill>
                  <a:srgbClr val="FBF3F0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Unsupervised learning finds structure without answer labels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4249341"/>
            <a:ext cx="1166684" cy="31651"/>
          </a:xfrm>
          <a:prstGeom prst="roundRect">
            <a:avLst>
              <a:gd name="adj" fmla="val 49998"/>
            </a:avLst>
          </a:prstGeom>
          <a:solidFill>
            <a:srgbClr val="3D2A31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4598690"/>
            <a:ext cx="3535671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There is no “correct” outcome column. The model surfaces patterns people can investigate.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59534" y="0"/>
            <a:ext cx="3413635" cy="327660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68" y="615950"/>
            <a:ext cx="539736" cy="5397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675468" y="1526096"/>
            <a:ext cx="2181766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E6D9D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Segmentation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5675468" y="1998166"/>
            <a:ext cx="2181766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Find groups with shared behavior.</a:t>
            </a:r>
            <a:endParaRPr lang="en-US" sz="17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7961" y="0"/>
            <a:ext cx="3413734" cy="3276600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3895" y="615950"/>
            <a:ext cx="539736" cy="53975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393895" y="1526096"/>
            <a:ext cx="2181865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E6D9D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Discovery</a:t>
            </a:r>
            <a:endParaRPr lang="en-US" sz="1900" dirty="0"/>
          </a:p>
        </p:txBody>
      </p:sp>
      <p:sp>
        <p:nvSpPr>
          <p:cNvPr id="13" name="Text 7"/>
          <p:cNvSpPr/>
          <p:nvPr/>
        </p:nvSpPr>
        <p:spPr>
          <a:xfrm>
            <a:off x="9393895" y="1998166"/>
            <a:ext cx="2181865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Expose patterns worth investigating.</a:t>
            </a:r>
            <a:endParaRPr lang="en-US" sz="17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9534" y="3581400"/>
            <a:ext cx="3413635" cy="32766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675468" y="4205796"/>
            <a:ext cx="2181766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E6D9D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Compression</a:t>
            </a:r>
            <a:endParaRPr lang="en-US" sz="1900" dirty="0"/>
          </a:p>
        </p:txBody>
      </p:sp>
      <p:sp>
        <p:nvSpPr>
          <p:cNvPr id="16" name="Text 9"/>
          <p:cNvSpPr/>
          <p:nvPr/>
        </p:nvSpPr>
        <p:spPr>
          <a:xfrm>
            <a:off x="5675468" y="4677866"/>
            <a:ext cx="2791350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Simplify complex data.</a:t>
            </a:r>
            <a:endParaRPr lang="en-US" sz="17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7961" y="3581400"/>
            <a:ext cx="3413734" cy="3276600"/>
          </a:xfrm>
          <a:prstGeom prst="rect">
            <a:avLst/>
          </a:prstGeom>
        </p:spPr>
      </p:pic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93895" y="4197350"/>
            <a:ext cx="539736" cy="53975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9393895" y="5107496"/>
            <a:ext cx="2181865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E6D9D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Anomaly hunting</a:t>
            </a:r>
            <a:endParaRPr lang="en-US" sz="1900" dirty="0"/>
          </a:p>
        </p:txBody>
      </p:sp>
      <p:sp>
        <p:nvSpPr>
          <p:cNvPr id="20" name="Text 11"/>
          <p:cNvSpPr/>
          <p:nvPr/>
        </p:nvSpPr>
        <p:spPr>
          <a:xfrm>
            <a:off x="9393895" y="5579566"/>
            <a:ext cx="2181865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Spot cases that do not fit.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2002056"/>
            <a:ext cx="6235544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C4B0B2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UNSUPERVISED · GROUPING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2300677"/>
            <a:ext cx="5625959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85" kern="100" dirty="0">
                <a:solidFill>
                  <a:srgbClr val="FBF3F0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Clustering groups similar cases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3523754"/>
            <a:ext cx="1856535" cy="31651"/>
          </a:xfrm>
          <a:prstGeom prst="roundRect">
            <a:avLst>
              <a:gd name="adj" fmla="val 49998"/>
            </a:avLst>
          </a:prstGeom>
          <a:solidFill>
            <a:srgbClr val="3D2A31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3873103"/>
            <a:ext cx="5625959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Inputs might include frequency, spend, recency, or product usage.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09585" y="4668203"/>
            <a:ext cx="6235544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17" kern="100" dirty="0">
                <a:solidFill>
                  <a:srgbClr val="A89598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Human judgment gives the groups meaning and decides what to do next.</a:t>
            </a:r>
            <a:endParaRPr lang="en-US" sz="11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1902" y="1593850"/>
            <a:ext cx="3670208" cy="36703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164352"/>
            <a:ext cx="3888682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C4B0B2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UNSUPERVISED · SIMPLIFYING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1462973"/>
            <a:ext cx="3279098" cy="2288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85" kern="100" dirty="0">
                <a:solidFill>
                  <a:srgbClr val="FBF3F0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Dimensionality reduction makes complex data easier to see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4059138"/>
            <a:ext cx="1081953" cy="31651"/>
          </a:xfrm>
          <a:prstGeom prst="roundRect">
            <a:avLst>
              <a:gd name="adj" fmla="val 49998"/>
            </a:avLst>
          </a:prstGeom>
          <a:solidFill>
            <a:srgbClr val="3D2A31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4408488"/>
            <a:ext cx="3279098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Compress many related measurements into a smaller set of useful dimensions.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09585" y="5505807"/>
            <a:ext cx="3888682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17" kern="100" dirty="0">
                <a:solidFill>
                  <a:srgbClr val="A89598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trade-off: simpler views can hide details.</a:t>
            </a:r>
            <a:endParaRPr lang="en-US" sz="11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64941" y="1618258"/>
            <a:ext cx="6017169" cy="36214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732919" y="4296221"/>
            <a:ext cx="993940" cy="41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1200" spc="-30" kern="100" dirty="0">
                <a:solidFill>
                  <a:srgbClr val="000000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Many Metrics</a:t>
            </a:r>
            <a:endParaRPr lang="en-US" sz="1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6369" y="3327140"/>
            <a:ext cx="361022" cy="36103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00225" y="4083927"/>
            <a:ext cx="993939" cy="20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1200" spc="-30" kern="100" dirty="0">
                <a:solidFill>
                  <a:srgbClr val="000000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Compress</a:t>
            </a:r>
            <a:endParaRPr lang="en-US" sz="12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9692" y="3014246"/>
            <a:ext cx="361022" cy="361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079564" y="3667425"/>
            <a:ext cx="993940" cy="41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1200" spc="-30" kern="100" dirty="0">
                <a:solidFill>
                  <a:srgbClr val="000000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Two Dimensions</a:t>
            </a:r>
            <a:endParaRPr lang="en-US" sz="12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6998" y="2707369"/>
            <a:ext cx="361022" cy="36103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240853" y="3360548"/>
            <a:ext cx="993940" cy="41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1200" spc="-30" kern="100" dirty="0">
                <a:solidFill>
                  <a:srgbClr val="000000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Visible Groups</a:t>
            </a:r>
            <a:endParaRPr lang="en-US" sz="12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0320" y="2400493"/>
            <a:ext cx="361023" cy="361031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0408159" y="3053671"/>
            <a:ext cx="993940" cy="4145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1200" spc="-30" kern="100" dirty="0">
                <a:solidFill>
                  <a:srgbClr val="000000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Hidden Detail</a:t>
            </a:r>
            <a:endParaRPr lang="en-US" sz="12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33643" y="2069547"/>
            <a:ext cx="361022" cy="36103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678305"/>
            <a:ext cx="5257668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C4B0B2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FAMILY 03 · REPRESENTATION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1976926"/>
            <a:ext cx="4648084" cy="1373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85" kern="100" dirty="0">
                <a:solidFill>
                  <a:srgbClr val="FBF3F0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Neural networks learn layered representations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3657699"/>
            <a:ext cx="1533685" cy="31651"/>
          </a:xfrm>
          <a:prstGeom prst="roundRect">
            <a:avLst>
              <a:gd name="adj" fmla="val 49998"/>
            </a:avLst>
          </a:prstGeom>
          <a:solidFill>
            <a:srgbClr val="3D2A31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4007048"/>
            <a:ext cx="4648084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Many small computational units transform inputs through layers.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09585" y="4802148"/>
            <a:ext cx="4648084" cy="379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17" kern="100" dirty="0">
                <a:solidFill>
                  <a:srgbClr val="A89598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Early layers detect simpler patterns; later layers combine them into richer ones.</a:t>
            </a:r>
            <a:endParaRPr lang="en-US" sz="11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34027" y="2121694"/>
            <a:ext cx="4648084" cy="261461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943451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7828" y="611505"/>
            <a:ext cx="5333867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C4B0B2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REPRESENTATIVE SCALE-UP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857828" y="910126"/>
            <a:ext cx="4724282" cy="1373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85" kern="100" dirty="0">
                <a:solidFill>
                  <a:srgbClr val="FBF3F0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Deep learning scales the neural-network idea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857828" y="2463998"/>
            <a:ext cx="4724282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More layers and more data can unlock complex pattern recognition.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857828" y="3436295"/>
            <a:ext cx="4724282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60" kern="100" dirty="0">
                <a:solidFill>
                  <a:srgbClr val="E6D9D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Strengths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6857828" y="3997226"/>
            <a:ext cx="5333867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Perception, language, speech, recommendations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857828" y="4667302"/>
            <a:ext cx="4724282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60" kern="100" dirty="0">
                <a:solidFill>
                  <a:srgbClr val="E6D9D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Costs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857828" y="5228233"/>
            <a:ext cx="4724282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More data, compute, tuning, and explanation challenges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634847"/>
            <a:ext cx="6299042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C4B0B2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FAMILY 04 · CREATION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1933468"/>
            <a:ext cx="5689458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85" kern="100" dirty="0">
                <a:solidFill>
                  <a:srgbClr val="FBF3F0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Generative models create new content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3156545"/>
            <a:ext cx="1877469" cy="31651"/>
          </a:xfrm>
          <a:prstGeom prst="roundRect">
            <a:avLst>
              <a:gd name="adj" fmla="val 49998"/>
            </a:avLst>
          </a:prstGeom>
          <a:solidFill>
            <a:srgbClr val="3D2A31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3505895"/>
            <a:ext cx="5689458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They learn patterns from existing examples and produce new text, images, audio, or code.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09585" y="4300835"/>
            <a:ext cx="5689458" cy="543917"/>
          </a:xfrm>
          <a:prstGeom prst="roundRect">
            <a:avLst>
              <a:gd name="adj" fmla="val 2101"/>
            </a:avLst>
          </a:prstGeom>
          <a:noFill/>
          <a:ln w="6350">
            <a:solidFill>
              <a:srgbClr val="FF8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9062" y="4366097"/>
            <a:ext cx="5430503" cy="414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109" kern="100" dirty="0">
                <a:solidFill>
                  <a:srgbClr val="FF8761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DRAFTING · SUMMARIZING · IDEATION · SEARCH · PERSONALIZATION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09585" y="5035411"/>
            <a:ext cx="6299042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17" kern="100" dirty="0">
                <a:solidFill>
                  <a:srgbClr val="A89598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Guardrail: fluent output is not the same as verified truth.</a:t>
            </a:r>
            <a:endParaRPr lang="en-US" sz="11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8627" y="0"/>
            <a:ext cx="528306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527195"/>
            <a:ext cx="5257668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C4B0B2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FAMILY 05 · FEEDBACK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1825816"/>
            <a:ext cx="4648084" cy="1373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85" kern="100" dirty="0">
                <a:solidFill>
                  <a:srgbClr val="FBF3F0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Reinforcement learning improves through feedback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3506589"/>
            <a:ext cx="1533685" cy="31651"/>
          </a:xfrm>
          <a:prstGeom prst="roundRect">
            <a:avLst>
              <a:gd name="adj" fmla="val 49998"/>
            </a:avLst>
          </a:prstGeom>
          <a:solidFill>
            <a:srgbClr val="3D2A31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3855938"/>
            <a:ext cx="4648084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An agent takes actions in an environment. Feedback rewards helpful behavior and discourages poor behavior.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09585" y="4953258"/>
            <a:ext cx="4648084" cy="379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17" kern="100" dirty="0">
                <a:solidFill>
                  <a:srgbClr val="A89598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Useful for sequential decisions such as games, robotics, routing, and dynamic recommendations.</a:t>
            </a:r>
            <a:endParaRPr lang="en-US" sz="11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34027" y="2517874"/>
            <a:ext cx="4648084" cy="1822252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4709" y="3317364"/>
            <a:ext cx="269588" cy="269596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5080" y="3317364"/>
            <a:ext cx="269588" cy="26959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044178" y="2606190"/>
            <a:ext cx="848759" cy="320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3000"/>
              </a:lnSpc>
              <a:buNone/>
            </a:pPr>
            <a:r>
              <a:rPr lang="en-US" sz="950" spc="-23" kern="100" dirty="0">
                <a:solidFill>
                  <a:srgbClr val="E6D9D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Observe Environment</a:t>
            </a:r>
            <a:endParaRPr lang="en-US" sz="950" dirty="0"/>
          </a:p>
        </p:txBody>
      </p:sp>
      <p:sp>
        <p:nvSpPr>
          <p:cNvPr id="11" name="Text 6"/>
          <p:cNvSpPr/>
          <p:nvPr/>
        </p:nvSpPr>
        <p:spPr>
          <a:xfrm>
            <a:off x="10618551" y="2606190"/>
            <a:ext cx="848760" cy="160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50" spc="-23" kern="100" dirty="0">
                <a:solidFill>
                  <a:srgbClr val="E6D9D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Choose Action</a:t>
            </a:r>
            <a:endParaRPr lang="en-US" sz="950" dirty="0"/>
          </a:p>
        </p:txBody>
      </p:sp>
      <p:sp>
        <p:nvSpPr>
          <p:cNvPr id="12" name="Text 7"/>
          <p:cNvSpPr/>
          <p:nvPr/>
        </p:nvSpPr>
        <p:spPr>
          <a:xfrm>
            <a:off x="10618551" y="3931410"/>
            <a:ext cx="848760" cy="320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50" spc="-23" kern="100" dirty="0">
                <a:solidFill>
                  <a:srgbClr val="E6D9D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Receive Feedback</a:t>
            </a:r>
            <a:endParaRPr lang="en-US" sz="950" dirty="0"/>
          </a:p>
        </p:txBody>
      </p:sp>
      <p:sp>
        <p:nvSpPr>
          <p:cNvPr id="13" name="Text 8"/>
          <p:cNvSpPr/>
          <p:nvPr/>
        </p:nvSpPr>
        <p:spPr>
          <a:xfrm>
            <a:off x="7044178" y="4091531"/>
            <a:ext cx="848759" cy="160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13000"/>
              </a:lnSpc>
              <a:buNone/>
            </a:pPr>
            <a:r>
              <a:rPr lang="en-US" sz="950" spc="-23" kern="100" dirty="0">
                <a:solidFill>
                  <a:srgbClr val="E6D9D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Improve Policy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1505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C4B0B2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A DECISION SEQUENCE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10126"/>
            <a:ext cx="10972526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85" kern="100" dirty="0">
                <a:solidFill>
                  <a:srgbClr val="FBF3F0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How to choose: question, data, risk, then model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9585" y="2939256"/>
            <a:ext cx="85564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FF8761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01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09585" y="3242072"/>
            <a:ext cx="1950592" cy="19050"/>
          </a:xfrm>
          <a:prstGeom prst="rect">
            <a:avLst/>
          </a:prstGeom>
          <a:solidFill>
            <a:srgbClr val="FF5A7A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3399643"/>
            <a:ext cx="1950691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E6D9D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Define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09585" y="3871714"/>
            <a:ext cx="1950691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The business decision and success metric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2864969" y="2939256"/>
            <a:ext cx="85564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FF8761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02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864969" y="3242072"/>
            <a:ext cx="1950592" cy="19050"/>
          </a:xfrm>
          <a:prstGeom prst="rect">
            <a:avLst/>
          </a:prstGeom>
          <a:solidFill>
            <a:srgbClr val="FF5A7A"/>
          </a:solidFill>
          <a:ln/>
        </p:spPr>
      </p:sp>
      <p:sp>
        <p:nvSpPr>
          <p:cNvPr id="10" name="Text 8"/>
          <p:cNvSpPr/>
          <p:nvPr/>
        </p:nvSpPr>
        <p:spPr>
          <a:xfrm>
            <a:off x="2864969" y="3399643"/>
            <a:ext cx="1950691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E6D9D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Check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2864969" y="3871714"/>
            <a:ext cx="1950691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What data and labels actually exist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120353" y="2939256"/>
            <a:ext cx="85564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FF8761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03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120353" y="3242072"/>
            <a:ext cx="1950889" cy="19050"/>
          </a:xfrm>
          <a:prstGeom prst="rect">
            <a:avLst/>
          </a:prstGeom>
          <a:solidFill>
            <a:srgbClr val="FF5A7A"/>
          </a:solidFill>
          <a:ln/>
        </p:spPr>
      </p:sp>
      <p:sp>
        <p:nvSpPr>
          <p:cNvPr id="14" name="Text 12"/>
          <p:cNvSpPr/>
          <p:nvPr/>
        </p:nvSpPr>
        <p:spPr>
          <a:xfrm>
            <a:off x="5120353" y="3399643"/>
            <a:ext cx="1950889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E6D9D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Baseline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5120353" y="3871714"/>
            <a:ext cx="1950889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Start with a simple model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375936" y="2939256"/>
            <a:ext cx="85564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FF8761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04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7375936" y="3242072"/>
            <a:ext cx="1950592" cy="19050"/>
          </a:xfrm>
          <a:prstGeom prst="rect">
            <a:avLst/>
          </a:prstGeom>
          <a:solidFill>
            <a:srgbClr val="FF5A7A"/>
          </a:solidFill>
          <a:ln/>
        </p:spPr>
      </p:sp>
      <p:sp>
        <p:nvSpPr>
          <p:cNvPr id="18" name="Text 16"/>
          <p:cNvSpPr/>
          <p:nvPr/>
        </p:nvSpPr>
        <p:spPr>
          <a:xfrm>
            <a:off x="7375936" y="3399643"/>
            <a:ext cx="1950691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E6D9D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Compare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7375936" y="3871714"/>
            <a:ext cx="1950691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Performance, interpretability, speed, and cost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9631320" y="2939256"/>
            <a:ext cx="85564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FF8761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05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9631320" y="3242072"/>
            <a:ext cx="1950691" cy="19050"/>
          </a:xfrm>
          <a:prstGeom prst="rect">
            <a:avLst/>
          </a:prstGeom>
          <a:solidFill>
            <a:srgbClr val="FF5A7A"/>
          </a:solidFill>
          <a:ln/>
        </p:spPr>
      </p:sp>
      <p:sp>
        <p:nvSpPr>
          <p:cNvPr id="22" name="Text 20"/>
          <p:cNvSpPr/>
          <p:nvPr/>
        </p:nvSpPr>
        <p:spPr>
          <a:xfrm>
            <a:off x="9631320" y="3399643"/>
            <a:ext cx="1950790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E6D9D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Test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9631320" y="3871714"/>
            <a:ext cx="1950790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In the real workflow, not only in a notebook</a:t>
            </a:r>
            <a:endParaRPr lang="en-US" sz="14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1505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C4B0B2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THE TRUST TEST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10126"/>
            <a:ext cx="10972526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85" kern="100" dirty="0">
                <a:solidFill>
                  <a:srgbClr val="FBF3F0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Model quality is more than accuracy</a:t>
            </a:r>
            <a:endParaRPr lang="en-US" sz="3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1548606"/>
          <a:ext cx="10972526" cy="914400"/>
        </p:xfrm>
        <a:graphic>
          <a:graphicData uri="http://schemas.openxmlformats.org/drawingml/2006/table">
            <a:tbl>
              <a:tblPr/>
              <a:tblGrid>
                <a:gridCol w="2194465"/>
                <a:gridCol w="8778060"/>
              </a:tblGrid>
              <a:tr h="4748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FBF3F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Check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3493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493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493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493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FBF3F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What to ask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3493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493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493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493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48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Performance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3493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493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493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493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A0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E6D9D8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Does it generalize to new cases?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3493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493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493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493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48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Reliability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3493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493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493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493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A0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E6D9D8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Does it behave consistently over time?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3493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493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493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493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0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Fairness and safety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3493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493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493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493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A0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E6D9D8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Who could be harmed by errors or bias?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3493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493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493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493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48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Adoption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3493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493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493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493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A0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E6D9D8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Can people understand and act on the output?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3493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493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493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493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8670"/>
            <a:ext cx="6908627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C4B0B2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THE PRACTICAL TAKEAWAY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95553"/>
            <a:ext cx="6299042" cy="2340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6400" spc="-224" kern="100" dirty="0">
                <a:solidFill>
                  <a:srgbClr val="FBF3F0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Use the simplest model that earns trust.</a:t>
            </a:r>
            <a:endParaRPr lang="en-US" sz="6400" dirty="0"/>
          </a:p>
        </p:txBody>
      </p:sp>
      <p:sp>
        <p:nvSpPr>
          <p:cNvPr id="4" name="Shape 2"/>
          <p:cNvSpPr/>
          <p:nvPr/>
        </p:nvSpPr>
        <p:spPr>
          <a:xfrm>
            <a:off x="609585" y="3575745"/>
            <a:ext cx="2078680" cy="31651"/>
          </a:xfrm>
          <a:prstGeom prst="roundRect">
            <a:avLst>
              <a:gd name="adj" fmla="val 49998"/>
            </a:avLst>
          </a:prstGeom>
          <a:solidFill>
            <a:srgbClr val="3D2A31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3925094"/>
            <a:ext cx="1998017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E6D9D8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Predict</a:t>
            </a:r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with regression and classification.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2759998" y="3925094"/>
            <a:ext cx="1998116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E6D9D8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Reveal</a:t>
            </a:r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structure with clustering and reduction.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910511" y="3925094"/>
            <a:ext cx="1998017" cy="1813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E6D9D8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Unlock</a:t>
            </a:r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richer problems with neural, generative, and reinforcement models, accepting greater trade-offs.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09585" y="5928916"/>
            <a:ext cx="6908627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The best model improves a real decision responsibly.</a:t>
            </a:r>
            <a:endParaRPr lang="en-US" sz="17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8212" y="0"/>
            <a:ext cx="4673483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2026-10-09T12:16:21Z</dcterms:created>
  <dcterms:modified xsi:type="dcterms:W3CDTF">2026-10-09T12:16:21Z</dcterms:modified>
</cp:coreProperties>
</file>